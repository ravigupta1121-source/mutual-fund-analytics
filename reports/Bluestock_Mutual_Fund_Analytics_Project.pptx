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  <p:sldId id="265" r:id="rId10"/>
    <p:sldId id="264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9" autoAdjust="0"/>
    <p:restoredTop sz="94660"/>
  </p:normalViewPr>
  <p:slideViewPr>
    <p:cSldViewPr snapToGrid="0">
      <p:cViewPr>
        <p:scale>
          <a:sx n="66" d="100"/>
          <a:sy n="66" d="100"/>
        </p:scale>
        <p:origin x="9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EF1F6-E0C4-5D0A-3B6F-AED3CE8941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A89A08-3625-BAE4-7F9A-D958B0EAE5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3F5EC-A78F-6418-53F9-0F1A8CB0D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86454-40E7-44FD-8C9B-1775372B9B1D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4AE4F-A8F7-2A96-8F3F-3300BEFA8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B03D1-E70E-65F6-CC2A-8A6302DCB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D7452-7909-41F2-B47B-7247C232E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030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8EB02-9253-3A6C-1D03-BFDFCC6EF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49D11-4A24-3422-79A8-366255B7D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442E8-C01C-3F5A-4FF1-0F40438E9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86454-40E7-44FD-8C9B-1775372B9B1D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F4942-5ABF-6D26-C37A-137C5CC1A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D41A0-6905-675E-87BA-638B98993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D7452-7909-41F2-B47B-7247C232E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101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0CC53-07BC-8CE1-722F-467536347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571D63-027B-BD53-F83D-94AC7F0D2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89D74-3FB3-3D75-7257-E0B7B4023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86454-40E7-44FD-8C9B-1775372B9B1D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F337-6A3C-5F8F-BDE2-2189DC638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338D1-504D-ACE9-6325-0983DBF9C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D7452-7909-41F2-B47B-7247C232E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363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B2C5A-CA55-68C5-9BB6-84FA9813F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43E6E-E219-7C8D-D3D7-B8EE4EEDD6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FC202-D6C2-B94C-A5DE-F11FDBDF9F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BEAA79-E49D-64FB-F386-CFDFADE7D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86454-40E7-44FD-8C9B-1775372B9B1D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BF6887-B382-11A3-FEF5-E95871E0C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6BD221-2B61-B84E-A2AC-276ECFEC4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D7452-7909-41F2-B47B-7247C232E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9546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A7B8F-8932-E360-1CC2-C9022108A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5D49AA-9081-57D7-0B8D-091E6C885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C1FC87-7CA4-63D7-9108-D3C2C8C48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2E2B25-9888-5159-4421-60CD152D98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D5BC10-63D3-EFC5-3B2C-9AC9F8D754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4EAAA1-B713-BBD9-43D3-FFFEB4076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86454-40E7-44FD-8C9B-1775372B9B1D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7B49F4-9914-1515-146C-3A4C65FF6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B4F834-D90F-9687-EC69-BEBC51F78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D7452-7909-41F2-B47B-7247C232E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042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7BB8C-8E80-C508-8819-9822BC31E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BD376F-B44A-84D5-E515-2FB8C450F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86454-40E7-44FD-8C9B-1775372B9B1D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095402-7DB2-A20C-8A0C-72DB55825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A9512D-15C0-EC89-FFF6-9AA627438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D7452-7909-41F2-B47B-7247C232E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152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7DE820-C4FF-4DF6-29AC-092B904FC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86454-40E7-44FD-8C9B-1775372B9B1D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DEEF5F-8925-FE8F-C9BF-F46206EE8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568113-66A5-236B-1330-109FA91E7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D7452-7909-41F2-B47B-7247C232E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8568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CDEDD-6505-31DD-6C12-3082F55AE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EE24B-5461-6B09-6A9A-5F1D84A64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3A660B-9FA8-634B-1CDF-EEFA859EC4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ED6A9A-AA4E-9D17-866F-54CA73300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86454-40E7-44FD-8C9B-1775372B9B1D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6288E4-E19C-464F-FAF1-FD1428B7B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B02C30-7782-4D0A-F80F-C50A4DC98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D7452-7909-41F2-B47B-7247C232E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996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77ED2-9C7F-CE01-9939-7F26AA372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7EA043-56B3-514D-FBCA-70E6F81569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7BE224-FD1D-0E3E-BAA1-DF550B031D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69AA0A-D52C-BF4E-954B-43E930D0D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86454-40E7-44FD-8C9B-1775372B9B1D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8527E7-BF68-3855-4952-B4687904D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6B49A-1D26-AE6A-E6BD-542B33142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D7452-7909-41F2-B47B-7247C232E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242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DD298-D5BC-F4B6-D826-B11718728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9A1C43-9D41-CD9A-5781-DD029A1226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6E525-F5C3-0B02-8531-2DEDB3952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86454-40E7-44FD-8C9B-1775372B9B1D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79E6E-1A10-51E1-C254-34CC3AD9A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AEC05-E594-7C0B-102C-AF29E6EE3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D7452-7909-41F2-B47B-7247C232E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009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D7E84F-CA9F-7D71-D2E1-FA338A99EF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A1E1AB-5135-7242-4248-0002F55B24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544A3-D622-83CE-B61E-48D502D3E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86454-40E7-44FD-8C9B-1775372B9B1D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A7409-167F-8438-7741-15D815D95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DF053-0F45-3AE6-E3F8-6C80E6FBD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D7452-7909-41F2-B47B-7247C232E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194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661649-34E2-44A3-DC2A-17C535FF0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D14F3-F494-AF3B-ADA0-9F74F58C6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98272-876F-D2D8-0D33-8EDE4C8317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186454-40E7-44FD-8C9B-1775372B9B1D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14A22-3AC5-572E-8426-3401FC2F0B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B2E1E-D812-CBAF-DEDB-2E641B93CD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1D7452-7909-41F2-B47B-7247C232E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174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BF53C-DF9E-9A51-3CA9-3A76F80183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677862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003399"/>
                </a:solidFill>
              </a:rPr>
              <a:t>Mutual Fund Analytics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4733A1-E518-7EFA-27CA-6D79DEBB4F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14563"/>
            <a:ext cx="9144000" cy="3043237"/>
          </a:xfrm>
        </p:spPr>
        <p:txBody>
          <a:bodyPr/>
          <a:lstStyle/>
          <a:p>
            <a:r>
              <a:rPr lang="en-IN" b="1" dirty="0" err="1"/>
              <a:t>Bluestock</a:t>
            </a:r>
            <a:r>
              <a:rPr lang="en-IN" b="1" dirty="0"/>
              <a:t> Fintech Capstone Project</a:t>
            </a:r>
          </a:p>
          <a:p>
            <a:endParaRPr lang="en-IN" b="1" dirty="0"/>
          </a:p>
          <a:p>
            <a:r>
              <a:rPr lang="en-IN" sz="1800" b="1" dirty="0"/>
              <a:t>Prepared By:</a:t>
            </a:r>
          </a:p>
          <a:p>
            <a:r>
              <a:rPr lang="en-IN" sz="1800" b="1" dirty="0"/>
              <a:t>Rachit Gupta</a:t>
            </a:r>
          </a:p>
          <a:p>
            <a:r>
              <a:rPr lang="en-IN" sz="1800" b="1" dirty="0"/>
              <a:t>Bachelor of Computer Applications</a:t>
            </a:r>
          </a:p>
          <a:p>
            <a:r>
              <a:rPr lang="en-IN" sz="1800" b="1" dirty="0"/>
              <a:t>Amity University Noida</a:t>
            </a:r>
          </a:p>
          <a:p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26CEA8-1109-2C88-2EFC-01667AF016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9838" y="5994401"/>
            <a:ext cx="2062162" cy="677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426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F89DD-DF7B-1D21-B66C-2C1375DFF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7588" y="0"/>
            <a:ext cx="6157913" cy="877888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1">
                    <a:lumMod val="75000"/>
                  </a:schemeClr>
                </a:solidFill>
              </a:rPr>
              <a:t>Problem &amp; Objectives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4FDCA-601E-AB0E-7C6A-4F710E9E9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5875"/>
            <a:ext cx="10515600" cy="5429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Problem Statement</a:t>
            </a:r>
          </a:p>
          <a:p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Mutual fund data is large and complex.</a:t>
            </a:r>
          </a:p>
          <a:p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Manual analysis is time-consuming.</a:t>
            </a:r>
          </a:p>
          <a:p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Need for a data-driven analytics solution.</a:t>
            </a:r>
          </a:p>
          <a:p>
            <a:endParaRPr lang="en-IN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Objectives</a:t>
            </a:r>
          </a:p>
          <a:p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Clean and prepare data</a:t>
            </a:r>
          </a:p>
          <a:p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Store data in database</a:t>
            </a:r>
          </a:p>
          <a:p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Perform data analysis</a:t>
            </a:r>
          </a:p>
          <a:p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Build Power BI dashboards</a:t>
            </a:r>
          </a:p>
          <a:p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Generate business insights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0ADA5B-F2F6-9764-9E8A-946C8A8E66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9838" y="5994401"/>
            <a:ext cx="2062162" cy="677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434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27C5A-59AF-AD69-79EE-F3F4CD788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3446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rgbClr val="002060"/>
                </a:solidFill>
              </a:rPr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7C640-5648-D4FC-7FA6-07CF7DD96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4599"/>
            <a:ext cx="113538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     </a:t>
            </a:r>
            <a:r>
              <a:rPr lang="en-IN" b="1" dirty="0"/>
              <a:t>Datasets Used                                          Tools Used          </a:t>
            </a:r>
          </a:p>
          <a:p>
            <a:r>
              <a:rPr lang="en-IN" b="1" dirty="0"/>
              <a:t>AUM by Fund House                                 -&gt; Python</a:t>
            </a:r>
          </a:p>
          <a:p>
            <a:r>
              <a:rPr lang="en-IN" b="1" dirty="0"/>
              <a:t>Scheme Performance                                -&gt; SQLite</a:t>
            </a:r>
          </a:p>
          <a:p>
            <a:r>
              <a:rPr lang="en-IN" b="1" dirty="0"/>
              <a:t>Investor Transactions                                -&gt; SQL</a:t>
            </a:r>
          </a:p>
          <a:p>
            <a:r>
              <a:rPr lang="en-IN" b="1" dirty="0"/>
              <a:t>Benchmark Indices                                    -&gt; Power BI</a:t>
            </a:r>
          </a:p>
          <a:p>
            <a:pPr marL="0" indent="0">
              <a:buNone/>
            </a:pPr>
            <a:r>
              <a:rPr lang="en-IN" b="1" dirty="0"/>
              <a:t>                                                                        -&gt; Pandas</a:t>
            </a:r>
          </a:p>
          <a:p>
            <a:pPr marL="0" indent="0">
              <a:buNone/>
            </a:pPr>
            <a:r>
              <a:rPr lang="en-IN" b="1" dirty="0"/>
              <a:t>                                                                        -&gt; </a:t>
            </a:r>
            <a:r>
              <a:rPr lang="en-IN" b="1" dirty="0" err="1"/>
              <a:t>Numpy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                                                                        -&gt; VS Code</a:t>
            </a:r>
          </a:p>
          <a:p>
            <a:pPr marL="0" indent="0">
              <a:buNone/>
            </a:pPr>
            <a:r>
              <a:rPr lang="en-IN" b="1" dirty="0"/>
              <a:t>                                                                        -&gt; Git Hub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EF7901-981F-4D51-2978-ACEB1532C6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9838" y="5994401"/>
            <a:ext cx="2062162" cy="677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145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CDB71-FA5A-1E1E-63FB-19AE802CB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2060"/>
                </a:solidFill>
              </a:rPr>
              <a:t>Project Architecture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6EF603-5158-A524-FAB3-9CC07AAFF2AE}"/>
              </a:ext>
            </a:extLst>
          </p:cNvPr>
          <p:cNvSpPr/>
          <p:nvPr/>
        </p:nvSpPr>
        <p:spPr>
          <a:xfrm>
            <a:off x="4629150" y="1724025"/>
            <a:ext cx="2114550" cy="5365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Raw CSV 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5BA003-589C-D7B7-463F-3EB4C1D538A0}"/>
              </a:ext>
            </a:extLst>
          </p:cNvPr>
          <p:cNvSpPr/>
          <p:nvPr/>
        </p:nvSpPr>
        <p:spPr>
          <a:xfrm>
            <a:off x="4629150" y="2663824"/>
            <a:ext cx="2114550" cy="5365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Data </a:t>
            </a:r>
            <a:r>
              <a:rPr lang="en-IN" dirty="0" err="1"/>
              <a:t>Cleannig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926FF7-16EE-FE5C-2637-2E043FAFB94F}"/>
              </a:ext>
            </a:extLst>
          </p:cNvPr>
          <p:cNvSpPr/>
          <p:nvPr/>
        </p:nvSpPr>
        <p:spPr>
          <a:xfrm>
            <a:off x="4629150" y="3463924"/>
            <a:ext cx="2114550" cy="5365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SQLiteDatabase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3C7364-944C-3138-394B-C46C929F19E3}"/>
              </a:ext>
            </a:extLst>
          </p:cNvPr>
          <p:cNvSpPr/>
          <p:nvPr/>
        </p:nvSpPr>
        <p:spPr>
          <a:xfrm>
            <a:off x="4629150" y="4305300"/>
            <a:ext cx="2114550" cy="5365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SQL Analysis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0D683D-32B8-1707-083D-4DD61C8B909E}"/>
              </a:ext>
            </a:extLst>
          </p:cNvPr>
          <p:cNvSpPr/>
          <p:nvPr/>
        </p:nvSpPr>
        <p:spPr>
          <a:xfrm>
            <a:off x="4629150" y="5162550"/>
            <a:ext cx="2114550" cy="5365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POWER BI DASHBOARD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41D72D-A9DB-7667-1D4B-5ADA68973D10}"/>
              </a:ext>
            </a:extLst>
          </p:cNvPr>
          <p:cNvSpPr/>
          <p:nvPr/>
        </p:nvSpPr>
        <p:spPr>
          <a:xfrm>
            <a:off x="4629150" y="6000750"/>
            <a:ext cx="2114550" cy="492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Business Insights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8131F200-7009-333D-9C9B-66A3E4D01D4A}"/>
              </a:ext>
            </a:extLst>
          </p:cNvPr>
          <p:cNvSpPr/>
          <p:nvPr/>
        </p:nvSpPr>
        <p:spPr>
          <a:xfrm>
            <a:off x="5524500" y="2362200"/>
            <a:ext cx="342900" cy="26352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D159188D-3BD8-6997-3185-8689DB756303}"/>
              </a:ext>
            </a:extLst>
          </p:cNvPr>
          <p:cNvSpPr/>
          <p:nvPr/>
        </p:nvSpPr>
        <p:spPr>
          <a:xfrm>
            <a:off x="5524500" y="3200399"/>
            <a:ext cx="342900" cy="22860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DED75A7A-2554-7D9D-AD6C-47D37A24F7F1}"/>
              </a:ext>
            </a:extLst>
          </p:cNvPr>
          <p:cNvSpPr/>
          <p:nvPr/>
        </p:nvSpPr>
        <p:spPr>
          <a:xfrm>
            <a:off x="5524500" y="4021137"/>
            <a:ext cx="342900" cy="24288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6F9B5D34-DD8A-A580-E99D-E241F036DEB5}"/>
              </a:ext>
            </a:extLst>
          </p:cNvPr>
          <p:cNvSpPr/>
          <p:nvPr/>
        </p:nvSpPr>
        <p:spPr>
          <a:xfrm>
            <a:off x="5524500" y="4841875"/>
            <a:ext cx="342900" cy="30162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FE0744CE-3968-3677-3E0D-27B1757C5225}"/>
              </a:ext>
            </a:extLst>
          </p:cNvPr>
          <p:cNvSpPr/>
          <p:nvPr/>
        </p:nvSpPr>
        <p:spPr>
          <a:xfrm>
            <a:off x="5524500" y="5699125"/>
            <a:ext cx="342900" cy="30162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4FEC0F2-6A1A-233C-1368-A2148BEE8C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6114" y="6237794"/>
            <a:ext cx="1915886" cy="49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257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146CC-35AD-043F-524E-909B9FB80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5888"/>
            <a:ext cx="10515600" cy="79692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2060"/>
                </a:solidFill>
              </a:rPr>
              <a:t>EDA Highlights (Part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94F81-C66B-1997-8B4A-2DAC588D2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450" y="773112"/>
            <a:ext cx="10515600" cy="54562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Key Findings:</a:t>
            </a:r>
          </a:p>
          <a:p>
            <a:pPr marL="0" indent="0">
              <a:buNone/>
            </a:pPr>
            <a:r>
              <a:rPr lang="en-US" b="1" dirty="0"/>
              <a:t>* Multiple mutual fund categories identified</a:t>
            </a:r>
          </a:p>
          <a:p>
            <a:pPr marL="0" indent="0">
              <a:buNone/>
            </a:pPr>
            <a:r>
              <a:rPr lang="en-US" b="1" dirty="0"/>
              <a:t>* Fund house-wise AUM distribution analyzed</a:t>
            </a:r>
          </a:p>
          <a:p>
            <a:pPr marL="0" indent="0">
              <a:buNone/>
            </a:pPr>
            <a:r>
              <a:rPr lang="en-US" b="1" dirty="0"/>
              <a:t>* Missing values successfully handled</a:t>
            </a:r>
          </a:p>
          <a:p>
            <a:pPr marL="0" indent="0">
              <a:buNone/>
            </a:pPr>
            <a:r>
              <a:rPr lang="en-US" b="1" dirty="0"/>
              <a:t>* Duplicate records removed</a:t>
            </a:r>
          </a:p>
          <a:p>
            <a:pPr marL="0" indent="0">
              <a:buNone/>
            </a:pPr>
            <a:r>
              <a:rPr lang="en-US" b="1" dirty="0"/>
              <a:t>* Dataset prepared for advanced analytics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F19B16-CAA7-64F4-A124-3488B77974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405" y="3943524"/>
            <a:ext cx="4171429" cy="27468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2225A5-E867-9447-AEFF-E4568F43A0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1834" y="3943524"/>
            <a:ext cx="3819048" cy="28476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27CA9A-3232-C0C3-C083-334C95CDB9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9838" y="5994401"/>
            <a:ext cx="2062162" cy="677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063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AE845-412F-C0EB-DE23-D83789EF5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/>
              <a:t>EDA Highlights (Part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D6282-A244-47B0-646E-19591A2B7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2481"/>
            <a:ext cx="10515600" cy="606551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Key Insights:</a:t>
            </a:r>
          </a:p>
          <a:p>
            <a:r>
              <a:rPr lang="en-US" b="1" dirty="0"/>
              <a:t>Top fund houses hold a major share of total AUM</a:t>
            </a:r>
          </a:p>
          <a:p>
            <a:r>
              <a:rPr lang="en-US" b="1" dirty="0"/>
              <a:t> Fund performance varies across categories</a:t>
            </a:r>
          </a:p>
          <a:p>
            <a:r>
              <a:rPr lang="en-US" b="1" dirty="0"/>
              <a:t>Higher returns are often associated with higher risk</a:t>
            </a:r>
          </a:p>
          <a:p>
            <a:r>
              <a:rPr lang="en-US" b="1" dirty="0"/>
              <a:t>Investor activity differs across schemes</a:t>
            </a:r>
          </a:p>
          <a:p>
            <a:r>
              <a:rPr lang="en-US" b="1" dirty="0"/>
              <a:t>Category-wise trends help identify investment opportunities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09872C-A8C9-05A4-7563-C3EF669F4D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459" y="3825240"/>
            <a:ext cx="5432541" cy="28346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9F1E22A-0A5D-B754-DE1F-B98F9F5F85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3825240"/>
            <a:ext cx="6096000" cy="30327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230C02F-94D7-3676-DBC3-0E43AE5CEC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1256" y="3175"/>
            <a:ext cx="1759857" cy="475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963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62912-BB21-E654-C345-B9AEA54F3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07719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2060"/>
                </a:solidFill>
              </a:rPr>
              <a:t>Performance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F9101-EB51-2CC9-4D98-7EE731CF9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571" y="691038"/>
            <a:ext cx="10515600" cy="547592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Metrics Evaluated: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* 1-Year Return %</a:t>
            </a:r>
          </a:p>
          <a:p>
            <a:pPr marL="0" indent="0">
              <a:buNone/>
            </a:pPr>
            <a:r>
              <a:rPr lang="en-US" sz="2400" b="1" dirty="0"/>
              <a:t>* Sharpe Ratio</a:t>
            </a:r>
          </a:p>
          <a:p>
            <a:pPr marL="0" indent="0">
              <a:buNone/>
            </a:pPr>
            <a:r>
              <a:rPr lang="en-US" sz="2400" b="1" dirty="0"/>
              <a:t>* Expense Ratio</a:t>
            </a:r>
          </a:p>
          <a:p>
            <a:r>
              <a:rPr lang="en-US" sz="2400" b="1" dirty="0"/>
              <a:t>AUM</a:t>
            </a:r>
          </a:p>
          <a:p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Purpose: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* Measure performance</a:t>
            </a:r>
          </a:p>
          <a:p>
            <a:pPr marL="0" indent="0">
              <a:buNone/>
            </a:pPr>
            <a:r>
              <a:rPr lang="en-US" sz="2400" b="1" dirty="0"/>
              <a:t>* Compare risk-adjusted returns</a:t>
            </a:r>
          </a:p>
          <a:p>
            <a:pPr marL="0" indent="0">
              <a:buNone/>
            </a:pPr>
            <a:r>
              <a:rPr lang="en-US" sz="2400" b="1" dirty="0"/>
              <a:t>* Evaluate efficiency</a:t>
            </a:r>
          </a:p>
          <a:p>
            <a:pPr marL="0" indent="0">
              <a:buNone/>
            </a:pPr>
            <a:r>
              <a:rPr lang="en-US" sz="2400" b="1" dirty="0"/>
              <a:t>* Support investment decisions</a:t>
            </a:r>
            <a:endParaRPr lang="en-IN" sz="2400" b="1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ABAF73-E390-6DEE-BFDD-CF181AF753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9838" y="5994401"/>
            <a:ext cx="2062162" cy="677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081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3749F-5BC0-A864-F8B4-5C9D9B376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5955"/>
          </a:xfrm>
        </p:spPr>
        <p:txBody>
          <a:bodyPr>
            <a:normAutofit/>
          </a:bodyPr>
          <a:lstStyle/>
          <a:p>
            <a:pPr algn="ctr"/>
            <a:r>
              <a:rPr lang="en-IN" sz="3600" dirty="0" err="1">
                <a:solidFill>
                  <a:srgbClr val="002060"/>
                </a:solidFill>
              </a:rPr>
              <a:t>Perfomance</a:t>
            </a:r>
            <a:r>
              <a:rPr lang="en-IN" sz="3600" dirty="0">
                <a:solidFill>
                  <a:srgbClr val="002060"/>
                </a:solidFill>
              </a:rPr>
              <a:t>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34891-34DD-C1DE-1DB9-80D9167C2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8720"/>
            <a:ext cx="10515600" cy="5304155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/>
              <a:t>Key Findings:</a:t>
            </a:r>
          </a:p>
          <a:p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*Strong performing schemes identified</a:t>
            </a:r>
          </a:p>
          <a:p>
            <a:pPr marL="0" indent="0">
              <a:buNone/>
            </a:pPr>
            <a:r>
              <a:rPr lang="en-US" sz="2400" b="1" dirty="0"/>
              <a:t>*Higher returns often imply higher risk</a:t>
            </a:r>
          </a:p>
          <a:p>
            <a:pPr marL="0" indent="0">
              <a:buNone/>
            </a:pPr>
            <a:r>
              <a:rPr lang="en-US" sz="2400" b="1" dirty="0"/>
              <a:t>* Better Sharpe Ratio = better risk-adjusted return</a:t>
            </a:r>
          </a:p>
          <a:p>
            <a:pPr marL="0" indent="0">
              <a:buNone/>
            </a:pPr>
            <a:r>
              <a:rPr lang="en-US" sz="2400" b="1" dirty="0"/>
              <a:t>* Expense ratios vary by fund</a:t>
            </a:r>
          </a:p>
          <a:p>
            <a:pPr marL="0" indent="0">
              <a:buNone/>
            </a:pPr>
            <a:r>
              <a:rPr lang="en-US" sz="2400" b="1" dirty="0"/>
              <a:t>* Top fund houses dominate AUM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Business Impact:</a:t>
            </a:r>
          </a:p>
          <a:p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* Better investment decisions</a:t>
            </a:r>
          </a:p>
          <a:p>
            <a:pPr marL="0" indent="0">
              <a:buNone/>
            </a:pPr>
            <a:r>
              <a:rPr lang="en-US" sz="2400" b="1" dirty="0"/>
              <a:t>* Easy fund comparison</a:t>
            </a:r>
          </a:p>
          <a:p>
            <a:pPr marL="0" indent="0">
              <a:buNone/>
            </a:pPr>
            <a:r>
              <a:rPr lang="en-US" sz="2400" b="1" dirty="0"/>
              <a:t>* Risk assessment support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148219-F4EC-1CD7-BCB0-877320EFB0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9838" y="5994401"/>
            <a:ext cx="2062162" cy="677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522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E0098-F604-A434-3129-D19D60C78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F3D3C-D785-251F-BFC2-D00441A9C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US" dirty="0"/>
              <a:t>Provides a high-level overview of mutual fund performance, fund categories, and fund house distribution.</a:t>
            </a:r>
            <a:endParaRPr lang="en-IN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CC9C3422-E002-4E0A-2E88-144CE12575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8600"/>
            <a:ext cx="10515600" cy="46434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A22DFE-589C-E224-8DFB-E9F50A25AC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9838" y="6153944"/>
            <a:ext cx="2062162" cy="677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318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BA03DE5-4585-1CB8-552B-143418F41B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539" y="3748916"/>
            <a:ext cx="5605462" cy="2981049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C09C69B0-A562-14BC-D66D-AD2AE9CDB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B0F0"/>
                </a:solidFill>
              </a:rPr>
              <a:t>Dashboard Visualizations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6215038-0E62-4610-79E7-C338E72581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84" y="681037"/>
            <a:ext cx="11986716" cy="284797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FDBAB52-EE0F-7173-7B4F-D820553F27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84" y="3748916"/>
            <a:ext cx="6096000" cy="303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652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EC6F1-BBDE-6D55-B119-89EF9A0B0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656"/>
            <a:ext cx="10515600" cy="900908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C00000"/>
                </a:solidFill>
              </a:rPr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84561-D4B9-4B19-D99F-73816B577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4450"/>
            <a:ext cx="10515600" cy="486251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*Leading fund houses dominate AUM</a:t>
            </a:r>
          </a:p>
          <a:p>
            <a:pPr marL="0" indent="0">
              <a:buNone/>
            </a:pPr>
            <a:r>
              <a:rPr lang="en-US" b="1" dirty="0"/>
              <a:t>* Performance differs by category</a:t>
            </a:r>
          </a:p>
          <a:p>
            <a:pPr marL="0" indent="0">
              <a:buNone/>
            </a:pPr>
            <a:r>
              <a:rPr lang="en-US" b="1" dirty="0"/>
              <a:t>* Higher return often means higher risk</a:t>
            </a:r>
          </a:p>
          <a:p>
            <a:pPr marL="0" indent="0">
              <a:buNone/>
            </a:pPr>
            <a:r>
              <a:rPr lang="en-US" b="1" dirty="0"/>
              <a:t>* Sharpe Ratio helps evaluate efficiency</a:t>
            </a:r>
          </a:p>
          <a:p>
            <a:pPr marL="0" indent="0">
              <a:buNone/>
            </a:pPr>
            <a:r>
              <a:rPr lang="en-US" b="1" dirty="0"/>
              <a:t>* SIP remains a preferred investment method</a:t>
            </a:r>
          </a:p>
          <a:p>
            <a:pPr marL="0" indent="0">
              <a:buNone/>
            </a:pPr>
            <a:r>
              <a:rPr lang="en-US" b="1" dirty="0"/>
              <a:t>* Dashboard supports better decisions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620C0F-75FB-24FA-5EE2-464ED3D564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9838" y="5994401"/>
            <a:ext cx="2062162" cy="677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835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5344C-1C7D-84A9-B8CF-AEAEF1CD6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0738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5D5CC-B8D3-D057-8ACE-670D6CA3F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4463"/>
            <a:ext cx="10515600" cy="47625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</a:t>
            </a:r>
          </a:p>
          <a:p>
            <a:pPr marL="0" indent="0">
              <a:buNone/>
            </a:pPr>
            <a:r>
              <a:rPr lang="en-US" b="1" dirty="0"/>
              <a:t>                                                     Questions?        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                                                   Rachit Gupta            </a:t>
            </a:r>
          </a:p>
          <a:p>
            <a:pPr marL="0" indent="0">
              <a:buNone/>
            </a:pPr>
            <a:r>
              <a:rPr lang="en-US" b="1" dirty="0"/>
              <a:t>                                   </a:t>
            </a:r>
            <a:r>
              <a:rPr lang="en-US" b="1" dirty="0" err="1"/>
              <a:t>Bluestock</a:t>
            </a:r>
            <a:r>
              <a:rPr lang="en-US" b="1" dirty="0"/>
              <a:t> Fintech Capstone Project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A5BD27-6591-1675-0B2A-FD6E3599AF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513" y="5155010"/>
            <a:ext cx="7910287" cy="1588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921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354</Words>
  <Application>Microsoft Office PowerPoint</Application>
  <PresentationFormat>Widescreen</PresentationFormat>
  <Paragraphs>105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Mutual Fund Analytics Project</vt:lpstr>
      <vt:lpstr>Problem &amp; Objectives </vt:lpstr>
      <vt:lpstr>Data Sources</vt:lpstr>
      <vt:lpstr>Project Architecture</vt:lpstr>
      <vt:lpstr>EDA Highlights (Part 1)</vt:lpstr>
      <vt:lpstr>EDA Highlights (Part 2)</vt:lpstr>
      <vt:lpstr>Performance Metrics</vt:lpstr>
      <vt:lpstr>Perfomance Analysis</vt:lpstr>
      <vt:lpstr>PowerPoint Presentation</vt:lpstr>
      <vt:lpstr>Dashboard Visualizations</vt:lpstr>
      <vt:lpstr>Key Findings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Rachit Gupta</dc:creator>
  <cp:lastModifiedBy>Rachit Gupta</cp:lastModifiedBy>
  <cp:revision>3</cp:revision>
  <dcterms:created xsi:type="dcterms:W3CDTF">2026-06-15T06:49:40Z</dcterms:created>
  <dcterms:modified xsi:type="dcterms:W3CDTF">2026-06-15T09:20:30Z</dcterms:modified>
</cp:coreProperties>
</file>